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1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926080"/>
            <a:ext cx="8229600" cy="8229600"/>
          </a:xfrm>
          <a:prstGeom prst="ellipse">
            <a:avLst/>
          </a:prstGeom>
          <a:solidFill>
            <a:srgbClr val="34201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5943600" cy="5943600"/>
          </a:xfrm>
          <a:prstGeom prst="ellipse">
            <a:avLst/>
          </a:prstGeom>
          <a:solidFill>
            <a:srgbClr val="4A2E15">
              <a:alpha val="45000"/>
            </a:srgbClr>
          </a:solidFill>
          <a:ln/>
        </p:spPr>
      </p:sp>
      <p:pic>
        <p:nvPicPr>
          <p:cNvPr id="4" name="Image 0" descr="E:/CAP/assets/img/escudo-cap-o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E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EXPERIENCE LAYER ·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88036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Portal de Socios,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 altura del club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4892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C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nueva experiencia visual y funcional para gestionar la cuota, los turnos y el carnet — sin tocar una sola línea de CleverSoft.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Presentada por Camilo Villanueva, socio N° 955 — a la Comisión Directiva de Club Atlético Platense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42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QUIÉN PROPONE ESTO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Esto no lo propone una consultora.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propone un socio.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675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nombre es Camilo Villanueva. Soy Familia Calamar desde que nací — mi pertenencia y mi amor por Platense vienen de toda la vida, no de un contrato. Viví en carne propia la recategorización de números de socio que reordenó la base de datos del club, y esa misma experiencia como socio es lo que impulsó esta propuesta.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C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propuesta nace de esa pertenencia: quiero que cada socio sienta, al entrar al portal, el mismo orgullo que siento yo cada vez que veo el escudo.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63840" y="12801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1C110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E:/CAP/assets/img/escudo-cap-o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64592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9C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N°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3154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E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955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138160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7885 antes de la recategorización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3816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Villanueva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3816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desde que nací · Familia Calamar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1A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club ya renovó su imagen.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A1A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portal de socios se quedó atrás.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cap.org.ar ya tiene identidad propia. El portal donde el socio paga la cuota y ve su carnet — hoy en clubcap.miclub.info — sigue con la interfaz de fábrica del proveedor, sin relación con la marca del club.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 de sistema  ·  botón azul genérico  ·  imagen de stock  ·  “Powered by CleverSoft®” como protagonista</a:t>
            </a:r>
            <a:endParaRPr lang="en-US" sz="1150" dirty="0"/>
          </a:p>
        </p:txBody>
      </p:sp>
      <p:pic>
        <p:nvPicPr>
          <p:cNvPr id="6" name="Image 0" descr="C:/Users/camil/AppData/Local/Temp/claude/E--CAP/38976492-1c39-4ee5-a2dd-fdab06544ef5/scratchpad/shots/cleversoft_real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97480"/>
            <a:ext cx="4806086" cy="3337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7" name="Image 1" descr="C:/Users/camil/AppData/Local/Temp/claude/E--CAP/38976492-1c39-4ee5-a2dd-fdab06544ef5/scratchpad/shots/login_new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6" y="2697480"/>
            <a:ext cx="4806086" cy="3337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640080" y="6144768"/>
            <a:ext cx="48060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— clubcap.miclub.info (CleverSoft de fábrica)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811926" y="6144768"/>
            <a:ext cx="48060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2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— mismo login, otra identidad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42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reemplazamos CleverSoft.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potenciamos.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CleverSoft sigue siendo el motor de gestión del club: cobra cuotas, controla accesos y administra los datos de cada socio, exactamente igual que hoy. La propuesta agrega una capa de presentación por encima — una “Experience Layer” — que es lo único que el socio ve y toca.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163928" y="315468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1C110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83968" y="3154680"/>
            <a:ext cx="33028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CleverSoft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66740" y="3154680"/>
            <a:ext cx="4403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9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gestión, pagos, turnos, base de socios — intacto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2968" y="3886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EA15E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63928" y="4160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4A2E15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3968" y="4160520"/>
            <a:ext cx="33028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 (propuesta)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66740" y="4160520"/>
            <a:ext cx="4403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9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semántico + CSS + JavaScript — sin backend nuevo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2968" y="4892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EA15E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63928" y="516636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BEA15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83968" y="5166360"/>
            <a:ext cx="33028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socio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66740" y="5166360"/>
            <a:ext cx="4403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42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cuenta, mismos datos, otra sensación al usarlo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CAMBIA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A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riesgo operativo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trabaja únicamente sobre la capa visual. Todo lo que hace funcionar al club hoy sigue funcionando exactamente igual.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257800" cy="777240"/>
          </a:xfrm>
          <a:prstGeom prst="roundRect">
            <a:avLst>
              <a:gd name="adj" fmla="val 10588"/>
            </a:avLst>
          </a:prstGeom>
          <a:solidFill>
            <a:srgbClr val="ECEAE5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647188"/>
            <a:ext cx="329184" cy="329184"/>
          </a:xfrm>
          <a:prstGeom prst="ellipse">
            <a:avLst/>
          </a:prstGeom>
          <a:solidFill>
            <a:srgbClr val="4A2E15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6471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C58F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4231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sesiones y captcha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423160"/>
            <a:ext cx="5257800" cy="777240"/>
          </a:xfrm>
          <a:prstGeom prst="roundRect">
            <a:avLst>
              <a:gd name="adj" fmla="val 10588"/>
            </a:avLst>
          </a:prstGeom>
          <a:solidFill>
            <a:srgbClr val="ECEAE5"/>
          </a:solidFill>
          <a:ln/>
        </p:spPr>
      </p:sp>
      <p:sp>
        <p:nvSpPr>
          <p:cNvPr id="10" name="Shape 8"/>
          <p:cNvSpPr/>
          <p:nvPr/>
        </p:nvSpPr>
        <p:spPr>
          <a:xfrm>
            <a:off x="6464808" y="2647188"/>
            <a:ext cx="329184" cy="329184"/>
          </a:xfrm>
          <a:prstGeom prst="ellipse">
            <a:avLst/>
          </a:prstGeom>
          <a:solidFill>
            <a:srgbClr val="4A2E15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6471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C58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24231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de cuotas y medios de pago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364992"/>
            <a:ext cx="5257800" cy="777240"/>
          </a:xfrm>
          <a:prstGeom prst="roundRect">
            <a:avLst>
              <a:gd name="adj" fmla="val 10588"/>
            </a:avLst>
          </a:prstGeom>
          <a:solidFill>
            <a:srgbClr val="ECEAE5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" y="3589020"/>
            <a:ext cx="329184" cy="329184"/>
          </a:xfrm>
          <a:prstGeom prst="ellipse">
            <a:avLst/>
          </a:prstGeom>
          <a:solidFill>
            <a:srgbClr val="4A2E15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589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C58F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36499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turnos y actividades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364992"/>
            <a:ext cx="5257800" cy="777240"/>
          </a:xfrm>
          <a:prstGeom prst="roundRect">
            <a:avLst>
              <a:gd name="adj" fmla="val 10588"/>
            </a:avLst>
          </a:prstGeom>
          <a:solidFill>
            <a:srgbClr val="ECEA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464808" y="3589020"/>
            <a:ext cx="329184" cy="329184"/>
          </a:xfrm>
          <a:prstGeom prst="ellipse">
            <a:avLst/>
          </a:prstGeom>
          <a:solidFill>
            <a:srgbClr val="4A2E15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3589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C58F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336499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 socios y grupo familiar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306824"/>
            <a:ext cx="5257800" cy="777240"/>
          </a:xfrm>
          <a:prstGeom prst="roundRect">
            <a:avLst>
              <a:gd name="adj" fmla="val 10588"/>
            </a:avLst>
          </a:prstGeom>
          <a:solidFill>
            <a:srgbClr val="ECEAE5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" y="4530852"/>
            <a:ext cx="329184" cy="329184"/>
          </a:xfrm>
          <a:prstGeom prst="ellipse">
            <a:avLst/>
          </a:prstGeom>
          <a:solidFill>
            <a:srgbClr val="4A2E15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5308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C58F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430682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lógica de negocio de CleverSoft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4306824"/>
            <a:ext cx="5257800" cy="777240"/>
          </a:xfrm>
          <a:prstGeom prst="roundRect">
            <a:avLst>
              <a:gd name="adj" fmla="val 10588"/>
            </a:avLst>
          </a:prstGeom>
          <a:solidFill>
            <a:srgbClr val="ECEAE5"/>
          </a:solidFill>
          <a:ln/>
        </p:spPr>
      </p:sp>
      <p:sp>
        <p:nvSpPr>
          <p:cNvPr id="26" name="Shape 24"/>
          <p:cNvSpPr/>
          <p:nvPr/>
        </p:nvSpPr>
        <p:spPr>
          <a:xfrm>
            <a:off x="6464808" y="4530852"/>
            <a:ext cx="329184" cy="329184"/>
          </a:xfrm>
          <a:prstGeom prst="ellipse">
            <a:avLst/>
          </a:prstGeom>
          <a:solidFill>
            <a:srgbClr val="4A2E15"/>
          </a:solidFill>
          <a:ln/>
        </p:spPr>
      </p:sp>
      <p:sp>
        <p:nvSpPr>
          <p:cNvPr id="27" name="Text 25"/>
          <p:cNvSpPr/>
          <p:nvPr/>
        </p:nvSpPr>
        <p:spPr>
          <a:xfrm>
            <a:off x="6464808" y="45308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C58F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430682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Formularios, IDs y nombres de campos existentes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A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misma identidad de cap.org.ar,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A1A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aplicada al portal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4A2E15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3950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Marrón institucional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42611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#4A2E15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228600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34201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83864" y="3950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Marrón oscuro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83864" y="42611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#342011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98464" y="228600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BEA15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63056" y="3950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63056" y="42611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#BEA15E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77656" y="228600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42248" y="3950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48" y="42611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AF8F4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091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2E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Gotham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14400" y="5349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Títulos, botones y datos — Light / Medium / Black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669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Bb Cc 0123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80760" y="457200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AF8F4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7091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4A2E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Calamar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55080" y="5349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de impacto — “Fiel a tu pasión”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5669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 a tu pasión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1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NUEVA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Home que se siente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club, no de un proveedor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reales de la cancha y la hinchada, paleta y tipografía institucional, accesos directos a lo que el socio busca: pagar la cuota, sacar un turno, ver su carnet.</a:t>
            </a:r>
            <a:endParaRPr lang="en-US" sz="1350" dirty="0"/>
          </a:p>
        </p:txBody>
      </p:sp>
      <p:pic>
        <p:nvPicPr>
          <p:cNvPr id="5" name="Image 0" descr="C:/Users/camil/AppData/Local/Temp/claude/E--CAP/38976492-1c39-4ee5-a2dd-fdab06544ef5/scratchpad/shots/hom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508760"/>
            <a:ext cx="5896687" cy="470916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DESTACADO — OPCIONAL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A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credencial, repensada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carnet clásico impreso pasa a ser una tarjeta digital con foto, escudo y acceso por QR — se gira con un toque para mostrar el código en la puerta. Es un ejemplo entre varios: sirve para mostrar el nivel de detalle posible, no es el foco central de la propuesta.</a:t>
            </a:r>
            <a:endParaRPr lang="en-US" sz="1350" dirty="0"/>
          </a:p>
        </p:txBody>
      </p:sp>
      <p:pic>
        <p:nvPicPr>
          <p:cNvPr id="5" name="Image 0" descr="C:/Users/camil/AppData/Local/Temp/claude/E--CAP/38976492-1c39-4ee5-a2dd-fdab06544ef5/scratchpad/shots/carnet_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34640"/>
            <a:ext cx="3291840" cy="23317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6" name="Image 1" descr="C:/Users/camil/AppData/Local/Temp/claude/E--CAP/38976492-1c39-4ee5-a2dd-fdab06544ef5/scratchpad/shots/carnet_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834640"/>
            <a:ext cx="3291840" cy="23317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40080" y="5276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— identidad y estado de socio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297680" y="5276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Dorso — QR de acceso, siempre actualizado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8046720" y="2971800"/>
            <a:ext cx="310896" cy="310896"/>
          </a:xfrm>
          <a:prstGeom prst="ellipse">
            <a:avLst/>
          </a:prstGeom>
          <a:solidFill>
            <a:srgbClr val="BEA15E"/>
          </a:solidFill>
          <a:ln/>
        </p:spPr>
      </p:sp>
      <p:sp>
        <p:nvSpPr>
          <p:cNvPr id="10" name="Text 6"/>
          <p:cNvSpPr/>
          <p:nvPr/>
        </p:nvSpPr>
        <p:spPr>
          <a:xfrm>
            <a:off x="804672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108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503920" y="2834640"/>
            <a:ext cx="3139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pierde ni se rompe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46720" y="3749040"/>
            <a:ext cx="310896" cy="310896"/>
          </a:xfrm>
          <a:prstGeom prst="ellipse">
            <a:avLst/>
          </a:prstGeom>
          <a:solidFill>
            <a:srgbClr val="BEA15E"/>
          </a:solidFill>
          <a:ln/>
        </p:spPr>
      </p:sp>
      <p:sp>
        <p:nvSpPr>
          <p:cNvPr id="13" name="Text 9"/>
          <p:cNvSpPr/>
          <p:nvPr/>
        </p:nvSpPr>
        <p:spPr>
          <a:xfrm>
            <a:off x="804672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108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503920" y="3611880"/>
            <a:ext cx="3139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también desde Wallet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4526280"/>
            <a:ext cx="310896" cy="310896"/>
          </a:xfrm>
          <a:prstGeom prst="ellipse">
            <a:avLst/>
          </a:prstGeom>
          <a:solidFill>
            <a:srgbClr val="BEA15E"/>
          </a:solidFill>
          <a:ln/>
        </p:spPr>
      </p:sp>
      <p:sp>
        <p:nvSpPr>
          <p:cNvPr id="16" name="Text 12"/>
          <p:cNvSpPr/>
          <p:nvPr/>
        </p:nvSpPr>
        <p:spPr>
          <a:xfrm>
            <a:off x="8046720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108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503920" y="4389120"/>
            <a:ext cx="3139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diseño para todo el grupo familiar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NUEVA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1A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Credencial para todo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A1A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grupo familiar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ver la credencial de un familiar a cargo no funcionaba. Se agregó una ventana que muestra la credencial de cada integrante del grupo familiar por separado, sin salir de la pantalla.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274320" cy="274320"/>
          </a:xfrm>
          <a:prstGeom prst="ellipse">
            <a:avLst/>
          </a:prstGeom>
          <a:solidFill>
            <a:srgbClr val="4A2E1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C58F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5844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Titular, cónyuge e hijos, cada uno con su credencial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224528"/>
            <a:ext cx="274320" cy="274320"/>
          </a:xfrm>
          <a:prstGeom prst="ellipse">
            <a:avLst/>
          </a:prstGeom>
          <a:solidFill>
            <a:srgbClr val="4A2E1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C58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41513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diseño, mismo QR de acceso individual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791456"/>
            <a:ext cx="274320" cy="274320"/>
          </a:xfrm>
          <a:prstGeom prst="ellipse">
            <a:avLst/>
          </a:prstGeom>
          <a:solidFill>
            <a:srgbClr val="4A2E1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791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C58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47183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con teclado y lector de pantalla</a:t>
            </a:r>
            <a:endParaRPr lang="en-US" sz="1250" dirty="0"/>
          </a:p>
        </p:txBody>
      </p:sp>
      <p:pic>
        <p:nvPicPr>
          <p:cNvPr id="14" name="Image 0" descr="C:/Users/camil/AppData/Local/Temp/claude/E--CAP/38976492-1c39-4ee5-a2dd-fdab06544ef5/scratchpad/shots/mis_datos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00200"/>
            <a:ext cx="6019495" cy="376218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15" name="Text 1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NUEVA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1A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Calamar: respuestas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A1A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instante, sin llamar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flotante disponible en todo el portal, con respuestas ya cargadas para las consultas más frecuentes de un socio.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256032" cy="256032"/>
          </a:xfrm>
          <a:prstGeom prst="ellipse">
            <a:avLst/>
          </a:prstGeom>
          <a:solidFill>
            <a:srgbClr val="BEA15E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297180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pagar la cuota y medios de pago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593592"/>
            <a:ext cx="256032" cy="256032"/>
          </a:xfrm>
          <a:prstGeom prst="ellipse">
            <a:avLst/>
          </a:prstGeom>
          <a:solidFill>
            <a:srgbClr val="BEA15E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35021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el carnet digital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123944"/>
            <a:ext cx="256032" cy="256032"/>
          </a:xfrm>
          <a:prstGeom prst="ellipse">
            <a:avLst/>
          </a:prstGeom>
          <a:solidFill>
            <a:srgbClr val="BEA15E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403250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del estadio y entradas a partidos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654296"/>
            <a:ext cx="256032" cy="256032"/>
          </a:xfrm>
          <a:prstGeom prst="ellipse">
            <a:avLst/>
          </a:prstGeom>
          <a:solidFill>
            <a:srgbClr val="BEA15E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456285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de la oficina de socios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184648"/>
            <a:ext cx="256032" cy="256032"/>
          </a:xfrm>
          <a:prstGeom prst="ellipse">
            <a:avLst/>
          </a:prstGeom>
          <a:solidFill>
            <a:srgbClr val="BEA1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509320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asociarse (deriva a la campaña vigente)</a:t>
            </a:r>
            <a:endParaRPr lang="en-US" sz="1200" dirty="0"/>
          </a:p>
        </p:txBody>
      </p:sp>
      <p:pic>
        <p:nvPicPr>
          <p:cNvPr id="15" name="Image 0" descr="C:/Users/camil/AppData/Local/Temp/claude/E--CAP/38976492-1c39-4ee5-a2dd-fdab06544ef5/scratchpad/shots/bot_calam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00200"/>
            <a:ext cx="6019495" cy="376218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16" name="Text 13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42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POTENCIAL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esto recién empieza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Experience Layer permite sumar, con el tiempo, más piezas sueltas del club en un solo lugar para el socio.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1C110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E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Calamar integrada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vive en una página aparte. Se puede sumar como una sección más del portal, en vez de un sitio separado que el socio tiene que descubrir por su cuenta.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26060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1C110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E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y notificaciones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709160" y="36118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y avisos de vencimiento directo en el celular del socio, sin depender del mail.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26060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1C110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0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E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y comercios adheridos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503920" y="36118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espacio propio para mostrar los descuentos y convenios vigentes del club.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1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7315200" cy="7315200"/>
          </a:xfrm>
          <a:prstGeom prst="ellipse">
            <a:avLst/>
          </a:prstGeom>
          <a:solidFill>
            <a:srgbClr val="342011">
              <a:alpha val="55000"/>
            </a:srgbClr>
          </a:solidFill>
          <a:ln/>
        </p:spPr>
      </p:sp>
      <p:pic>
        <p:nvPicPr>
          <p:cNvPr id="3" name="Image 0" descr="E:/CAP/assets/img/escudo-cap-o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6858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377440"/>
            <a:ext cx="9784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 socio debe sentir que usa una plataforma completamente nueva.</a:t>
            </a:r>
            <a:endParaRPr 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debe seguir funcionando exactamente igual.”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88720" y="38862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Manifiesto del proyecto — Experience Layer, Portal de Socios CAP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645920" y="489204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9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aprobar el alcance y definir con sistemas cómo integrar esta capa sobre el CleverSoft real del club.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88720" y="56692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EA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Portal de Socios CAP — Propuesta de modernización</dc:title>
  <dc:subject>PptxGenJS Presentation</dc:subject>
  <dc:creator>Club Atlético Platense</dc:creator>
  <cp:lastModifiedBy>Club Atlético Platense</cp:lastModifiedBy>
  <cp:revision>1</cp:revision>
  <dcterms:created xsi:type="dcterms:W3CDTF">2026-07-05T05:34:00Z</dcterms:created>
  <dcterms:modified xsi:type="dcterms:W3CDTF">2026-07-05T05:34:00Z</dcterms:modified>
</cp:coreProperties>
</file>